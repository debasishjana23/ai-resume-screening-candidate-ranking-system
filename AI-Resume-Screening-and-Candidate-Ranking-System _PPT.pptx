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9" r:id="rId13"/>
  </p:sldIdLst>
  <p:sldSz cx="12192000" cy="6858000"/>
  <p:notesSz cx="6858000" cy="12192000"/>
  <p:embeddedFontLst>
    <p:embeddedFont>
      <p:font typeface="Inter" panose="020B0604020202020204" charset="0"/>
      <p:regular r:id="rId15"/>
    </p:embeddedFont>
    <p:embeddedFont>
      <p:font typeface="Petrona Bold" panose="020B0604020202020204" charset="0"/>
      <p:regular r:id="rId16"/>
    </p:embeddedFont>
    <p:embeddedFont>
      <p:font typeface="Prata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518EDB-40E5-4C9F-9AAD-2F945EAEEA7D}" v="34" dt="2026-08-27T19:45:27.1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8613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525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33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8731" y="600572"/>
            <a:ext cx="4571886" cy="628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</a:t>
            </a:r>
            <a:r>
              <a:rPr lang="en-US" sz="3400" b="1" dirty="0" err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Neotia</a:t>
            </a:r>
            <a:r>
              <a:rPr lang="en-US" sz="3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University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1198731" y="1108869"/>
            <a:ext cx="6296860" cy="628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West Bengal | Bachelor of Computer Applications (BCA) — Academic Year 2025–2027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926E03-E8DA-57A2-6154-8A5DADDEC756}"/>
              </a:ext>
            </a:extLst>
          </p:cNvPr>
          <p:cNvSpPr txBox="1"/>
          <p:nvPr/>
        </p:nvSpPr>
        <p:spPr>
          <a:xfrm>
            <a:off x="661475" y="2064415"/>
            <a:ext cx="4777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:- </a:t>
            </a:r>
          </a:p>
          <a:p>
            <a:r>
              <a:rPr lang="en-US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               AI Resume Screening &amp;            Candidate Ranking System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633297-FA54-3BAE-D627-3ACFB2FC7A0B}"/>
              </a:ext>
            </a:extLst>
          </p:cNvPr>
          <p:cNvSpPr txBox="1"/>
          <p:nvPr/>
        </p:nvSpPr>
        <p:spPr>
          <a:xfrm>
            <a:off x="2227162" y="3384866"/>
            <a:ext cx="297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BY:-</a:t>
            </a:r>
          </a:p>
          <a:p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Group Name: </a:t>
            </a: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A600D1-6D77-AC8A-89DC-EBB652790791}"/>
              </a:ext>
            </a:extLst>
          </p:cNvPr>
          <p:cNvSpPr txBox="1"/>
          <p:nvPr/>
        </p:nvSpPr>
        <p:spPr>
          <a:xfrm>
            <a:off x="562877" y="4727535"/>
            <a:ext cx="4352474" cy="17799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r>
              <a:rPr lang="en-US" b="1" dirty="0"/>
              <a:t>:-</a:t>
            </a:r>
          </a:p>
          <a:p>
            <a:pPr>
              <a:lnSpc>
                <a:spcPts val="2200"/>
              </a:lnSpc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Debasish Jana — UID: TNU2023069100063</a:t>
            </a:r>
          </a:p>
          <a:p>
            <a:pPr>
              <a:lnSpc>
                <a:spcPts val="2200"/>
              </a:lnSpc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Rahul khan — UID: TNU2023069100047</a:t>
            </a:r>
            <a:endParaRPr lang="en-US" dirty="0"/>
          </a:p>
          <a:p>
            <a:pPr>
              <a:lnSpc>
                <a:spcPts val="2200"/>
              </a:lnSpc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Soumili Mandal — UID: TNU2023069200034</a:t>
            </a:r>
            <a:endParaRPr lang="en-US" dirty="0"/>
          </a:p>
          <a:p>
            <a:pPr>
              <a:lnSpc>
                <a:spcPts val="2200"/>
              </a:lnSpc>
            </a:pPr>
            <a:endParaRPr lang="en-US" dirty="0"/>
          </a:p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0B5047-BBDE-2B38-39B0-1E2C26DEE93A}"/>
              </a:ext>
            </a:extLst>
          </p:cNvPr>
          <p:cNvCxnSpPr/>
          <p:nvPr/>
        </p:nvCxnSpPr>
        <p:spPr>
          <a:xfrm>
            <a:off x="661475" y="1962150"/>
            <a:ext cx="36856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5161A1-3EF4-FB39-8FBE-5429D6B61AD5}"/>
              </a:ext>
            </a:extLst>
          </p:cNvPr>
          <p:cNvCxnSpPr/>
          <p:nvPr/>
        </p:nvCxnSpPr>
        <p:spPr>
          <a:xfrm>
            <a:off x="671000" y="3190875"/>
            <a:ext cx="36856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5A44D8F8-9A79-E752-06EF-4F7FE1DD5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470" y="105471"/>
            <a:ext cx="2266950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3105"/>
            <a:ext cx="10868745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61475" y="2536527"/>
            <a:ext cx="2593216" cy="1514475"/>
          </a:xfrm>
          <a:prstGeom prst="roundRect">
            <a:avLst>
              <a:gd name="adj" fmla="val 4587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3119" y="2708176"/>
            <a:ext cx="2249927" cy="542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1. Problem &amp; Objectives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33119" y="3350121"/>
            <a:ext cx="224992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manual screening fails at scale.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19985" y="2536527"/>
            <a:ext cx="2593216" cy="1514475"/>
          </a:xfrm>
          <a:prstGeom prst="roundRect">
            <a:avLst>
              <a:gd name="adj" fmla="val 4587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91629" y="2708176"/>
            <a:ext cx="224992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2. System Architecture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591629" y="3078758"/>
            <a:ext cx="224992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pipeline from PDFs to ranked output.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8495" y="2536527"/>
            <a:ext cx="2593216" cy="1514475"/>
          </a:xfrm>
          <a:prstGeom prst="roundRect">
            <a:avLst>
              <a:gd name="adj" fmla="val 4587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0139" y="2708176"/>
            <a:ext cx="224992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3. Technology Stack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50139" y="3078758"/>
            <a:ext cx="224992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Streamlit, PyPDF2, pandas, scikit-learn.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37005" y="2536527"/>
            <a:ext cx="2593216" cy="1514475"/>
          </a:xfrm>
          <a:prstGeom prst="roundRect">
            <a:avLst>
              <a:gd name="adj" fmla="val 4587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08649" y="2708176"/>
            <a:ext cx="224992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4. Implementation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08649" y="3078758"/>
            <a:ext cx="224992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functions and workflow.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475" y="4216301"/>
            <a:ext cx="5351725" cy="978495"/>
          </a:xfrm>
          <a:prstGeom prst="roundRect">
            <a:avLst>
              <a:gd name="adj" fmla="val 709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119" y="4387949"/>
            <a:ext cx="500843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5. I/O Example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3119" y="4758531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job description, resumes, and ranked results.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8495" y="4216301"/>
            <a:ext cx="5351725" cy="978495"/>
          </a:xfrm>
          <a:prstGeom prst="roundRect">
            <a:avLst>
              <a:gd name="adj" fmla="val 709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0139" y="4387949"/>
            <a:ext cx="500843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6. Advantages, Limits &amp; Future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50139" y="4758531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Benefits, trade-offs, and next steps.</a:t>
            </a:r>
            <a:endParaRPr lang="en-US" sz="13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3282664-F3A6-415C-9A55-E6A28BEEC3FF}"/>
              </a:ext>
            </a:extLst>
          </p:cNvPr>
          <p:cNvSpPr/>
          <p:nvPr/>
        </p:nvSpPr>
        <p:spPr>
          <a:xfrm>
            <a:off x="11077575" y="6515100"/>
            <a:ext cx="1085850" cy="3333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00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56530"/>
            <a:ext cx="6296860" cy="108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Problem: Why Manual Screening Breaks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61475" y="1990030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resume screening doesn't scale with applicant volume. Recruiters receive far more resumes than can be read carefully for every role, making timely review unrealistic.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2969915"/>
            <a:ext cx="3065783" cy="1533128"/>
          </a:xfrm>
          <a:prstGeom prst="roundRect">
            <a:avLst>
              <a:gd name="adj" fmla="val 453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19" y="3154263"/>
            <a:ext cx="2697095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 Volume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45819" y="3524845"/>
            <a:ext cx="269709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applicant pools prevent detailed manual review for each candidate.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892552" y="2969915"/>
            <a:ext cx="3065783" cy="1533128"/>
          </a:xfrm>
          <a:prstGeom prst="roundRect">
            <a:avLst>
              <a:gd name="adj" fmla="val 453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76896" y="3154263"/>
            <a:ext cx="2697095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Slow &amp; Inconsistent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076896" y="3524845"/>
            <a:ext cx="269709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review is time-consuming and yields variable judgments across reviewers.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4668341"/>
            <a:ext cx="3065783" cy="1533128"/>
          </a:xfrm>
          <a:prstGeom prst="roundRect">
            <a:avLst>
              <a:gd name="adj" fmla="val 453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5819" y="4852690"/>
            <a:ext cx="2697095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Bias Risk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45819" y="5223272"/>
            <a:ext cx="26970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Unconscious bias and fatigue can distort screening outcomes.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892552" y="4668341"/>
            <a:ext cx="3065783" cy="1533128"/>
          </a:xfrm>
          <a:prstGeom prst="roundRect">
            <a:avLst>
              <a:gd name="adj" fmla="val 453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76896" y="4852690"/>
            <a:ext cx="2697095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Quick Ranking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076896" y="5223272"/>
            <a:ext cx="269709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is no fast, repeatable method to rank candidates against a specific job description.</a:t>
            </a:r>
            <a:endParaRPr lang="en-US" sz="13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2DD442F-0DE1-EFB1-5231-86EA87C8D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678" y="2777"/>
            <a:ext cx="5049322" cy="68552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20081"/>
            <a:ext cx="10868745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279350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 automated screening system that accepts a free-text job description and multiple PDF resumes, extracts text, computes similarity scores, and returns a ranked candidate table.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508772"/>
            <a:ext cx="766644" cy="7666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34786" y="3508772"/>
            <a:ext cx="2511759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Resume Upload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634786" y="3879354"/>
            <a:ext cx="251175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 multiple candidate resumes in PDF format to be uploaded via the UI.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3213" y="3508772"/>
            <a:ext cx="766644" cy="766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26525" y="3508772"/>
            <a:ext cx="2511858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Text Extraction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5326525" y="3879354"/>
            <a:ext cx="251185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extract readable text from each uploaded resume (PDF text layer).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050" y="3508772"/>
            <a:ext cx="766644" cy="7666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18362" y="3508772"/>
            <a:ext cx="2511858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Scoring &amp; Ranking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9018362" y="3879354"/>
            <a:ext cx="2511858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resumes against the job description using TF-IDF + cosine similarity and display ranked results.</a:t>
            </a:r>
            <a:endParaRPr lang="en-US" sz="13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F5341E1-2551-FC78-405D-576D292C640D}"/>
              </a:ext>
            </a:extLst>
          </p:cNvPr>
          <p:cNvSpPr/>
          <p:nvPr/>
        </p:nvSpPr>
        <p:spPr>
          <a:xfrm>
            <a:off x="11077575" y="6515100"/>
            <a:ext cx="1085850" cy="3333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6044"/>
            <a:ext cx="10868745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 &amp; Methodology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2239466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a linear pipeline: input → extraction → vectorization → similarity → ranked output. Each stage is modular and lightweight, enabling local execution without paid external APIs.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158133"/>
            <a:ext cx="3485071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Step 1 — Input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61475" y="3528715"/>
            <a:ext cx="34850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resumes + free-text job description (user input).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53213" y="3158133"/>
            <a:ext cx="3485170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Step 2 — Extraction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53213" y="3528715"/>
            <a:ext cx="348517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text from PDFs using PyPDF2; concatenate pages into a single string.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5050" y="3158133"/>
            <a:ext cx="3485170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Step 3 — Vectorization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5050" y="3528715"/>
            <a:ext cx="348517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 a shared TF-IDF vocabulary (scikit-learn TfidfVectorizer) on documents.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1475" y="4592042"/>
            <a:ext cx="5330989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Step 4 — Similarity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1475" y="4962624"/>
            <a:ext cx="53309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cosine similarity between job description vector and each resume vector.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9132" y="4592042"/>
            <a:ext cx="5331089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Step 5 — Output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199132" y="4962624"/>
            <a:ext cx="53310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sorted results table of candidates from best match to weakest.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2425" y="2954734"/>
            <a:ext cx="3523170" cy="381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5" name="Shape 13"/>
          <p:cNvSpPr/>
          <p:nvPr/>
        </p:nvSpPr>
        <p:spPr>
          <a:xfrm>
            <a:off x="4334163" y="2954734"/>
            <a:ext cx="3523269" cy="381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6" name="Shape 14"/>
          <p:cNvSpPr/>
          <p:nvPr/>
        </p:nvSpPr>
        <p:spPr>
          <a:xfrm>
            <a:off x="8026001" y="2954734"/>
            <a:ext cx="3523269" cy="381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7" name="Shape 15"/>
          <p:cNvSpPr/>
          <p:nvPr/>
        </p:nvSpPr>
        <p:spPr>
          <a:xfrm>
            <a:off x="642425" y="4388644"/>
            <a:ext cx="5369088" cy="381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8" name="Shape 16"/>
          <p:cNvSpPr/>
          <p:nvPr/>
        </p:nvSpPr>
        <p:spPr>
          <a:xfrm>
            <a:off x="6180082" y="4388644"/>
            <a:ext cx="5369188" cy="381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C10EBF2-6125-B9DF-F07F-7F5A44E1CDA6}"/>
              </a:ext>
            </a:extLst>
          </p:cNvPr>
          <p:cNvSpPr/>
          <p:nvPr/>
        </p:nvSpPr>
        <p:spPr>
          <a:xfrm>
            <a:off x="11077575" y="6515100"/>
            <a:ext cx="1085850" cy="3333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11225"/>
            <a:ext cx="6296860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1701998"/>
            <a:ext cx="413434" cy="41344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33360" y="2322116"/>
            <a:ext cx="3045046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Streamlit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233360" y="2692698"/>
            <a:ext cx="304504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UI for job description input, PDF uploader, and interactive results table.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074" y="1701998"/>
            <a:ext cx="413434" cy="41344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85074" y="2322116"/>
            <a:ext cx="3045146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PyPDF2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8485074" y="2692698"/>
            <a:ext cx="304514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Extracts text content from each uploaded PDF resume, page by page.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3552627"/>
            <a:ext cx="413434" cy="41344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33360" y="4172744"/>
            <a:ext cx="3045046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pandas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5233360" y="4543326"/>
            <a:ext cx="304504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and sorts the ranked results DataFrame for presentation and export.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074" y="3552627"/>
            <a:ext cx="413434" cy="41344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485074" y="4172744"/>
            <a:ext cx="3045146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scikit-learn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8485074" y="4543326"/>
            <a:ext cx="304514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 vectorization and cosine similarity scoring (TfidfVectorizer + cosine_similarity).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5233360" y="5523210"/>
            <a:ext cx="6296860" cy="423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Language: Python 3. Implementation uses purely open-source Python libraries for a lightweight, reproducible pipeline.</a:t>
            </a:r>
            <a:endParaRPr lang="en-US" sz="1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7FFF35F-A421-13A7-F7E0-FC1D98E4E713}"/>
              </a:ext>
            </a:extLst>
          </p:cNvPr>
          <p:cNvSpPr/>
          <p:nvPr/>
        </p:nvSpPr>
        <p:spPr>
          <a:xfrm>
            <a:off x="11077575" y="6515100"/>
            <a:ext cx="1085850" cy="3333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18096"/>
            <a:ext cx="6296860" cy="108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Implementation — Core Functions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61475" y="2451596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code is concise and focused on reproducible steps that mirror the architecture.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3166864"/>
            <a:ext cx="3065783" cy="2572941"/>
          </a:xfrm>
          <a:prstGeom prst="roundRect">
            <a:avLst>
              <a:gd name="adj" fmla="val 270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3119" y="3338513"/>
            <a:ext cx="2722494" cy="542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extract_text_from_pdf(file)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33119" y="3980458"/>
            <a:ext cx="272249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every page using PdfReader, concatenates extracted text into one string for each resume.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892552" y="3166864"/>
            <a:ext cx="3065783" cy="2572941"/>
          </a:xfrm>
          <a:prstGeom prst="roundRect">
            <a:avLst>
              <a:gd name="adj" fmla="val 270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64196" y="3338513"/>
            <a:ext cx="2722494" cy="542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rank_resumes(job_description, resumes)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064196" y="3980458"/>
            <a:ext cx="272249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Constructs documents = [job_description] + resumes, fits TfidfVectorizer, computes vectors, then returns cosine_similarity([jd_vec], resume_vecs).flatten().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1612"/>
            <a:ext cx="10868745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Input / Output Example (Live Demo Data)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54503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Description: “Looking for a Python Developer with strong experience in data analysis and machine learning — skilled in Python, pandas, scikit-learn, SQL, Flask/Django REST APIs, Git.”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60302"/>
          <a:ext cx="10868746" cy="3462550"/>
        </p:xfrm>
        <a:graphic>
          <a:graphicData uri="http://schemas.openxmlformats.org/drawingml/2006/table">
            <a:tbl>
              <a:tblPr/>
              <a:tblGrid>
                <a:gridCol w="4347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0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Rank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Resume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7E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Similarity 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7E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Resume_Aisha_Khan.pdf — Python, pandas, scikit-learn, Flask, SQL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0.5660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Resume_Karan_Verma.pdf — Data scientist, Python, Flask, SQL, Git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0.4682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Resume_Rohan_Das.pdf — Frontend: HTML/CSS/JS/React only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0.2907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35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Resume_Meera_Iyer.pdf — Java/Spring Boot, basic SQL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0.1959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592167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ranked output is computed directly by the described rank_resumes function and demonstrates relative match strength for shortlisting.</a:t>
            </a:r>
            <a:endParaRPr lang="en-US" sz="13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FA08818-5D3B-ECE0-BE83-CA358123A383}"/>
              </a:ext>
            </a:extLst>
          </p:cNvPr>
          <p:cNvSpPr/>
          <p:nvPr/>
        </p:nvSpPr>
        <p:spPr>
          <a:xfrm>
            <a:off x="11077575" y="6515100"/>
            <a:ext cx="1085850" cy="3333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46460"/>
            <a:ext cx="6296860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Advantages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233360" y="1837234"/>
            <a:ext cx="6296860" cy="123199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Removes the need to manually read every resume for an initial shortlist.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consistent, repeatable rankings for the same inputs.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implementation that requires no paid external API.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interactive UI — accessible to non-developers via Streamlit.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233360" y="3317280"/>
            <a:ext cx="6296860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Limitations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233360" y="4108053"/>
            <a:ext cx="6296860" cy="170338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TF‑IDF captures vocabulary overlap, not deep semantic meaning — synonyms may score lower.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 quality depends on PDF text layers; scanned/image-only resumes will not be read reliably.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Screening aid only — the system does not verify claims or replace human hiring judgment.</a:t>
            </a:r>
            <a:endParaRPr lang="en-US" sz="13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249CC4-3D18-DED4-1CE4-9B7A636E605F}"/>
              </a:ext>
            </a:extLst>
          </p:cNvPr>
          <p:cNvSpPr/>
          <p:nvPr/>
        </p:nvSpPr>
        <p:spPr>
          <a:xfrm>
            <a:off x="11077575" y="6515100"/>
            <a:ext cx="1085850" cy="3333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75632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24185"/>
            <a:ext cx="6296860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Scope — Roadmap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19391" y="1414959"/>
            <a:ext cx="19050" cy="4818757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5" name="Shape 2"/>
          <p:cNvSpPr/>
          <p:nvPr/>
        </p:nvSpPr>
        <p:spPr>
          <a:xfrm>
            <a:off x="5586372" y="1591469"/>
            <a:ext cx="496081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6" name="Shape 3"/>
          <p:cNvSpPr/>
          <p:nvPr/>
        </p:nvSpPr>
        <p:spPr>
          <a:xfrm>
            <a:off x="5233360" y="1414959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89170" y="1438225"/>
            <a:ext cx="260443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6246359" y="1471811"/>
            <a:ext cx="5283862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01 — Semantic Embeddings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246359" y="1842393"/>
            <a:ext cx="528386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TF‑IDF with sentence-transformers to capture meaning, not just keyword overlap.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586372" y="2878832"/>
            <a:ext cx="496081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11" name="Shape 8"/>
          <p:cNvSpPr/>
          <p:nvPr/>
        </p:nvSpPr>
        <p:spPr>
          <a:xfrm>
            <a:off x="5233360" y="2702322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89170" y="2725589"/>
            <a:ext cx="260443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6246359" y="2759174"/>
            <a:ext cx="5283862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02 — Backend API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246359" y="3129756"/>
            <a:ext cx="528386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Flask or FastAPI backend so ranking can be invoked outside the Streamlit UI and integrated into ATS systems.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586372" y="4166195"/>
            <a:ext cx="496081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16" name="Shape 13"/>
          <p:cNvSpPr/>
          <p:nvPr/>
        </p:nvSpPr>
        <p:spPr>
          <a:xfrm>
            <a:off x="5233360" y="398968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89170" y="4012952"/>
            <a:ext cx="260443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050" dirty="0"/>
          </a:p>
        </p:txBody>
      </p:sp>
      <p:sp>
        <p:nvSpPr>
          <p:cNvPr id="18" name="Text 15"/>
          <p:cNvSpPr/>
          <p:nvPr/>
        </p:nvSpPr>
        <p:spPr>
          <a:xfrm>
            <a:off x="6246359" y="4046537"/>
            <a:ext cx="5283862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03 — Auth &amp; Persistence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246359" y="4417120"/>
            <a:ext cx="528386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authentication and persistent storage for recruiters to save and revisit past sessions.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586372" y="5453559"/>
            <a:ext cx="496081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21" name="Shape 18"/>
          <p:cNvSpPr/>
          <p:nvPr/>
        </p:nvSpPr>
        <p:spPr>
          <a:xfrm>
            <a:off x="5233360" y="5277048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89170" y="5300315"/>
            <a:ext cx="260443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050" dirty="0"/>
          </a:p>
        </p:txBody>
      </p:sp>
      <p:sp>
        <p:nvSpPr>
          <p:cNvPr id="23" name="Text 20"/>
          <p:cNvSpPr/>
          <p:nvPr/>
        </p:nvSpPr>
        <p:spPr>
          <a:xfrm>
            <a:off x="6246359" y="5333901"/>
            <a:ext cx="5283862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04 — Explainability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246359" y="5704483"/>
            <a:ext cx="528386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specific matched keywords/skills behind each resume score to aid human review.</a:t>
            </a:r>
            <a:endParaRPr lang="en-US" sz="13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99E4437-D656-930E-C527-E268C06241B9}"/>
              </a:ext>
            </a:extLst>
          </p:cNvPr>
          <p:cNvSpPr/>
          <p:nvPr/>
        </p:nvSpPr>
        <p:spPr>
          <a:xfrm>
            <a:off x="11077575" y="6515100"/>
            <a:ext cx="1085850" cy="3333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48359"/>
            <a:ext cx="6296860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 &amp; Next Steps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61475" y="2739132"/>
            <a:ext cx="6296860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demonstrates a practical end-to-end application of text vectorization and similarity scoring for hiring: TF‑IDF + cosine similarity provides an automated, consistent first-pass ranking of candidates via a Streamlit interface. It is a simple, extensible foundation that can evolve to semantic embeddings, backend APIs, and explainability to better assist recruiters.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198731" y="4454823"/>
            <a:ext cx="620389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23640" y="3025330"/>
            <a:ext cx="6296860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400" dirty="0">
                <a:solidFill>
                  <a:schemeClr val="accent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Thank You!</a:t>
            </a:r>
            <a:endParaRPr lang="en-US" sz="7400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4928568" y="3230563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FF97111-7569-26D0-17B2-6DDC42CF21BB}"/>
              </a:ext>
            </a:extLst>
          </p:cNvPr>
          <p:cNvSpPr/>
          <p:nvPr/>
        </p:nvSpPr>
        <p:spPr>
          <a:xfrm>
            <a:off x="11077575" y="6515100"/>
            <a:ext cx="1085850" cy="3333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87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58</TotalTime>
  <Words>995</Words>
  <Application>Microsoft Office PowerPoint</Application>
  <PresentationFormat>Widescreen</PresentationFormat>
  <Paragraphs>124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Inter</vt:lpstr>
      <vt:lpstr>Prata</vt:lpstr>
      <vt:lpstr>Petrona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debasish jana</dc:creator>
  <cp:lastModifiedBy>debasish jana</cp:lastModifiedBy>
  <cp:revision>4</cp:revision>
  <dcterms:created xsi:type="dcterms:W3CDTF">2026-08-27T18:42:04Z</dcterms:created>
  <dcterms:modified xsi:type="dcterms:W3CDTF">2026-09-06T04:37:51Z</dcterms:modified>
</cp:coreProperties>
</file>